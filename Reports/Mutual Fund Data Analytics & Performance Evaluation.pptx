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6" y="4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40410"/>
            <a:ext cx="10813067" cy="78383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998185"/>
            <a:ext cx="10813067" cy="54150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2974" y="1606318"/>
            <a:ext cx="11268845" cy="479145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FE713BC-BD41-4B7E-AAAF-DE3BF884523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395FF2-4BCA-4EE7-96FD-F47993C09CFE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FC4771-5A22-2E68-AB04-0949D0A15B66}"/>
              </a:ext>
            </a:extLst>
          </p:cNvPr>
          <p:cNvCxnSpPr>
            <a:cxnSpLocks/>
          </p:cNvCxnSpPr>
          <p:nvPr/>
        </p:nvCxnSpPr>
        <p:spPr>
          <a:xfrm flipH="1">
            <a:off x="0" y="159971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A95C5A-6D75-9E1D-C459-7F2022E84F55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ED5AC1-9F96-A868-7F45-523BF1A45E7C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E1F764-5B01-7711-9CF1-7EA13A629701}"/>
              </a:ext>
            </a:extLst>
          </p:cNvPr>
          <p:cNvCxnSpPr>
            <a:cxnSpLocks/>
          </p:cNvCxnSpPr>
          <p:nvPr/>
        </p:nvCxnSpPr>
        <p:spPr>
          <a:xfrm flipH="1">
            <a:off x="0" y="639617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96890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60221"/>
            <a:ext cx="10515600" cy="13304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04291"/>
            <a:ext cx="10515600" cy="41726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713BC-BD41-4B7E-AAAF-DE3BF884523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95FF2-4BCA-4EE7-96FD-F47993C09CF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76D044F-5574-D6D7-2A47-5069E411C22F}"/>
              </a:ext>
            </a:extLst>
          </p:cNvPr>
          <p:cNvCxnSpPr>
            <a:cxnSpLocks/>
          </p:cNvCxnSpPr>
          <p:nvPr/>
        </p:nvCxnSpPr>
        <p:spPr>
          <a:xfrm flipH="1">
            <a:off x="0" y="1825625"/>
            <a:ext cx="12210293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6243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2445" y="1480212"/>
            <a:ext cx="3849131" cy="2871351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46" y="5410440"/>
            <a:ext cx="3849128" cy="106820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04414" cy="6859634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29501" y="6445997"/>
            <a:ext cx="295546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26650" y="6445997"/>
            <a:ext cx="135305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FE713BC-BD41-4B7E-AAAF-DE3BF884523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395FF2-4BCA-4EE7-96FD-F47993C09CFE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8BE003B-9AA9-5AAB-16A3-CC8CD5997AAA}"/>
              </a:ext>
            </a:extLst>
          </p:cNvPr>
          <p:cNvCxnSpPr>
            <a:cxnSpLocks/>
          </p:cNvCxnSpPr>
          <p:nvPr/>
        </p:nvCxnSpPr>
        <p:spPr>
          <a:xfrm flipH="1">
            <a:off x="7206802" y="5031087"/>
            <a:ext cx="498519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CBC2A1-BC50-27CD-C764-435FA7A59ABD}"/>
              </a:ext>
            </a:extLst>
          </p:cNvPr>
          <p:cNvCxnSpPr>
            <a:cxnSpLocks/>
          </p:cNvCxnSpPr>
          <p:nvPr/>
        </p:nvCxnSpPr>
        <p:spPr>
          <a:xfrm>
            <a:off x="720680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9617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6222" y="1246912"/>
            <a:ext cx="8919556" cy="3050766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1378" y="5345199"/>
            <a:ext cx="7289245" cy="118403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FE713BC-BD41-4B7E-AAAF-DE3BF884523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395FF2-4BCA-4EE7-96FD-F47993C09CFE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C4A186-7A3C-2849-F4A7-5B5565EB29E6}"/>
              </a:ext>
            </a:extLst>
          </p:cNvPr>
          <p:cNvCxnSpPr>
            <a:cxnSpLocks/>
          </p:cNvCxnSpPr>
          <p:nvPr/>
        </p:nvCxnSpPr>
        <p:spPr>
          <a:xfrm flipH="1">
            <a:off x="0" y="5016433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C7E87E-EC44-47F9-6172-5EEA03DE5D87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79391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2D6AD5-6168-B411-89A9-90C82303B2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EC6DA0-2CB8-AFC5-DB06-AB9235983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38087"/>
            <a:ext cx="8932653" cy="331254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cap="all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16A9F-28B9-2207-66D3-D952EB7EC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-789870"/>
            <a:ext cx="10515600" cy="63835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3F77F-C41D-1011-B9F4-A5DE814F4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751081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CD507-925C-84B3-8F49-9F3B91209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FE713BC-BD41-4B7E-AAAF-DE3BF884523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3B4AE-32E8-CAFF-4A3C-6CBE4FFF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395FF2-4BCA-4EE7-96FD-F47993C09CFE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FA0DE8-9E4B-D747-CB64-14B8DEDC02EA}"/>
              </a:ext>
            </a:extLst>
          </p:cNvPr>
          <p:cNvCxnSpPr>
            <a:cxnSpLocks/>
          </p:cNvCxnSpPr>
          <p:nvPr/>
        </p:nvCxnSpPr>
        <p:spPr>
          <a:xfrm flipH="1">
            <a:off x="0" y="1367580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EB75EB-F27E-271A-C843-4096E1F19057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87268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2D18C4-A1A8-6CA4-B4A2-0E9791DC7F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22507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79085" y="2249592"/>
            <a:ext cx="6100623" cy="3787062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FE713BC-BD41-4B7E-AAAF-DE3BF884523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395FF2-4BCA-4EE7-96FD-F47993C09CFE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1701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D0A563-F018-FFF1-B911-D69E42CEEA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30279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DA2B1BE-7DDF-C8B4-6A46-21B5A0257D0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8364" y="1830708"/>
            <a:ext cx="5321063" cy="456392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6552" y="2191025"/>
            <a:ext cx="5733156" cy="3894807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FE713BC-BD41-4B7E-AAAF-DE3BF884523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395FF2-4BCA-4EE7-96FD-F47993C09CFE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DD64E6-257D-65B2-D2A7-6A1002E1E580}"/>
              </a:ext>
            </a:extLst>
          </p:cNvPr>
          <p:cNvCxnSpPr>
            <a:cxnSpLocks/>
          </p:cNvCxnSpPr>
          <p:nvPr/>
        </p:nvCxnSpPr>
        <p:spPr>
          <a:xfrm>
            <a:off x="5321065" y="1822345"/>
            <a:ext cx="0" cy="5035655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34340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1299"/>
            <a:ext cx="3689927" cy="1486906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4515" y="2780147"/>
            <a:ext cx="6567049" cy="3359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713BC-BD41-4B7E-AAAF-DE3BF884523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95FF2-4BCA-4EE7-96FD-F47993C09CFE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5C1EC-3A2D-2E51-65A6-6155B3776C4A}"/>
              </a:ext>
            </a:extLst>
          </p:cNvPr>
          <p:cNvCxnSpPr>
            <a:cxnSpLocks/>
          </p:cNvCxnSpPr>
          <p:nvPr/>
        </p:nvCxnSpPr>
        <p:spPr>
          <a:xfrm flipH="1">
            <a:off x="0" y="239797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7FEE4-9B7E-CE58-4AA3-EC6E3E1861F3}"/>
              </a:ext>
            </a:extLst>
          </p:cNvPr>
          <p:cNvCxnSpPr>
            <a:cxnSpLocks/>
          </p:cNvCxnSpPr>
          <p:nvPr/>
        </p:nvCxnSpPr>
        <p:spPr>
          <a:xfrm>
            <a:off x="4469245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8589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pos="2928">
          <p15:clr>
            <a:srgbClr val="FBAE40"/>
          </p15:clr>
        </p15:guide>
        <p15:guide id="5" pos="47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0473"/>
            <a:ext cx="3664107" cy="3864052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0349" y="720473"/>
            <a:ext cx="6309360" cy="5303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713BC-BD41-4B7E-AAAF-DE3BF884523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95FF2-4BCA-4EE7-96FD-F47993C09CFE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AC6891-86BE-FF41-E94E-AB97BFFB2322}"/>
              </a:ext>
            </a:extLst>
          </p:cNvPr>
          <p:cNvCxnSpPr>
            <a:cxnSpLocks/>
          </p:cNvCxnSpPr>
          <p:nvPr/>
        </p:nvCxnSpPr>
        <p:spPr>
          <a:xfrm>
            <a:off x="464346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51E503-5C8D-3CDA-5CC2-A56B4F2A619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9765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1995" y="559483"/>
            <a:ext cx="6825541" cy="100965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421943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1994" y="2083837"/>
            <a:ext cx="6825545" cy="4032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811448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713BC-BD41-4B7E-AAAF-DE3BF884523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95FF2-4BCA-4EE7-96FD-F47993C09CFE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423739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4425535" y="1810995"/>
            <a:ext cx="7750205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9184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2644" y="669386"/>
            <a:ext cx="7231413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994" y="-5468"/>
            <a:ext cx="4011836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44" y="1812385"/>
            <a:ext cx="7231407" cy="4423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408011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713BC-BD41-4B7E-AAAF-DE3BF884523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95FF2-4BCA-4EE7-96FD-F47993C09CFE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00921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0294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0728"/>
            <a:ext cx="7281067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3728"/>
            <a:ext cx="7281061" cy="4423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5489" y="-6369"/>
            <a:ext cx="3996512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713BC-BD41-4B7E-AAAF-DE3BF884523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95FF2-4BCA-4EE7-96FD-F47993C09CFE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818828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963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8485"/>
            <a:ext cx="6369370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1484"/>
            <a:ext cx="6360897" cy="42921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77100" y="-8466"/>
            <a:ext cx="4914895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713BC-BD41-4B7E-AAAF-DE3BF884523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95FF2-4BCA-4EE7-96FD-F47993C09CFE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727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16377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8145"/>
            <a:ext cx="4000497" cy="16797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72880"/>
            <a:ext cx="4000497" cy="3789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53323" y="0"/>
            <a:ext cx="733867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40005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713BC-BD41-4B7E-AAAF-DE3BF884523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95FF2-4BCA-4EE7-96FD-F47993C09CFE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849331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31428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9922" y="458144"/>
            <a:ext cx="3909536" cy="14858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6839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9922" y="2463789"/>
            <a:ext cx="3909534" cy="35610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713BC-BD41-4B7E-AAAF-DE3BF884523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95FF2-4BCA-4EE7-96FD-F47993C09CFE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67EAFE-BA64-2156-9780-AA400F6F3026}"/>
              </a:ext>
            </a:extLst>
          </p:cNvPr>
          <p:cNvCxnSpPr>
            <a:cxnSpLocks/>
          </p:cNvCxnSpPr>
          <p:nvPr/>
        </p:nvCxnSpPr>
        <p:spPr>
          <a:xfrm>
            <a:off x="727134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F2342-86AA-3EA4-EB3B-2DB8D68315E6}"/>
              </a:ext>
            </a:extLst>
          </p:cNvPr>
          <p:cNvCxnSpPr>
            <a:cxnSpLocks/>
          </p:cNvCxnSpPr>
          <p:nvPr/>
        </p:nvCxnSpPr>
        <p:spPr>
          <a:xfrm flipH="1">
            <a:off x="7227420" y="2212509"/>
            <a:ext cx="493532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35302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959530"/>
            <a:ext cx="3512409" cy="219986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B441162-7125-E1E0-1B82-FCC1AB8422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57" y="-1"/>
            <a:ext cx="12192000" cy="364897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3613" y="3959529"/>
            <a:ext cx="7011183" cy="23695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1" y="6445997"/>
            <a:ext cx="354329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713BC-BD41-4B7E-AAAF-DE3BF884523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95FF2-4BCA-4EE7-96FD-F47993C09CFE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F81FBD-8D67-B5E4-E22E-74E98EF89F80}"/>
              </a:ext>
            </a:extLst>
          </p:cNvPr>
          <p:cNvCxnSpPr>
            <a:cxnSpLocks/>
          </p:cNvCxnSpPr>
          <p:nvPr/>
        </p:nvCxnSpPr>
        <p:spPr>
          <a:xfrm>
            <a:off x="4290210" y="3648976"/>
            <a:ext cx="0" cy="3209024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92870-1B48-2935-21E8-3BC6F474C661}"/>
              </a:ext>
            </a:extLst>
          </p:cNvPr>
          <p:cNvCxnSpPr>
            <a:cxnSpLocks/>
          </p:cNvCxnSpPr>
          <p:nvPr/>
        </p:nvCxnSpPr>
        <p:spPr>
          <a:xfrm flipH="1">
            <a:off x="-857" y="3654706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52541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77072"/>
            <a:ext cx="4958078" cy="122548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842182"/>
            <a:ext cx="5758172" cy="454645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142" y="377072"/>
            <a:ext cx="5558655" cy="57974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713BC-BD41-4B7E-AAAF-DE3BF884523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95FF2-4BCA-4EE7-96FD-F47993C09CFE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575817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1842182"/>
            <a:ext cx="5758174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301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407360"/>
            <a:ext cx="3543299" cy="173282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66598"/>
            <a:ext cx="4460008" cy="3601433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2635" y="788704"/>
            <a:ext cx="6730614" cy="5385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5433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713BC-BD41-4B7E-AAAF-DE3BF884523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95FF2-4BCA-4EE7-96FD-F47993C09CFE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4068031"/>
            <a:ext cx="446000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446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D58D1-F636-9620-582E-41FBB707092B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024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1F6A87-CC7B-D4BD-1F6A-C3948971C3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8720" y="5264780"/>
            <a:ext cx="9811512" cy="109728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10000"/>
              </a:lnSpc>
              <a:defRPr lang="en-US" sz="2800" cap="all" spc="100" baseline="0" dirty="0">
                <a:solidFill>
                  <a:schemeClr val="tx2">
                    <a:lumMod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76656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FE713BC-BD41-4B7E-AAAF-DE3BF884523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395FF2-4BCA-4EE7-96FD-F47993C09CFE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ADE133-B5D6-A1C0-6BC9-C723D008EC0E}"/>
              </a:ext>
            </a:extLst>
          </p:cNvPr>
          <p:cNvCxnSpPr>
            <a:cxnSpLocks/>
          </p:cNvCxnSpPr>
          <p:nvPr/>
        </p:nvCxnSpPr>
        <p:spPr>
          <a:xfrm flipH="1">
            <a:off x="0" y="501866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18535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FB4D75-C478-D736-9A5A-B64DEA2410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93103" y="1493520"/>
            <a:ext cx="8805794" cy="3911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5400" b="0">
                <a:solidFill>
                  <a:schemeClr val="tx2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4800" b="0">
                <a:solidFill>
                  <a:schemeClr val="tx2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4400" b="0">
                <a:solidFill>
                  <a:schemeClr val="tx2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4000" b="0">
                <a:solidFill>
                  <a:schemeClr val="tx2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36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FE713BC-BD41-4B7E-AAAF-DE3BF884523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395FF2-4BCA-4EE7-96FD-F47993C09CFE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547212-589F-3A5C-2FF7-4E576B86E3A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E2472-A2D0-B3C4-1592-E709B2EC9AD6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F95E0B8-C6C3-8095-D53F-FB618E39D7CE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D2DF78-237E-1E21-906C-273460F55F55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230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47DCC75-46A1-9953-9459-89672E9805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2100" y="5549186"/>
            <a:ext cx="9199563" cy="6531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 cap="all" spc="100" baseline="0">
                <a:solidFill>
                  <a:schemeClr val="accent4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36EB602-83B2-B4EE-7805-FB94B77476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62100" y="823913"/>
            <a:ext cx="9199563" cy="3614737"/>
          </a:xfrm>
        </p:spPr>
        <p:txBody>
          <a:bodyPr anchor="ctr">
            <a:normAutofit/>
          </a:bodyPr>
          <a:lstStyle>
            <a:lvl1pPr marL="182880" indent="-182880">
              <a:buNone/>
              <a:defRPr sz="400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FE713BC-BD41-4B7E-AAAF-DE3BF884523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395FF2-4BCA-4EE7-96FD-F47993C09CFE}" type="slidenum">
              <a:rPr lang="en-IN" smtClean="0"/>
              <a:t>‹#›</a:t>
            </a:fld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1338F2-C5CE-45A7-7748-138B348BA1E7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4CFB94-8AB3-65DB-0B12-EC4F7DAAEBF7}"/>
              </a:ext>
            </a:extLst>
          </p:cNvPr>
          <p:cNvCxnSpPr>
            <a:cxnSpLocks/>
          </p:cNvCxnSpPr>
          <p:nvPr/>
        </p:nvCxnSpPr>
        <p:spPr>
          <a:xfrm flipH="1">
            <a:off x="0" y="504372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23225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27BF6-CDFA-AAF4-F7FD-F4F8D06FF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5309"/>
            <a:ext cx="11277600" cy="914400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B1904-05A3-AF54-90B7-8B4E5E9BFC6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5613" y="1677988"/>
            <a:ext cx="5181600" cy="4498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D15555F-2C1E-04D7-CE37-D06ABFB568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3200" y="1677988"/>
            <a:ext cx="5180013" cy="449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08197-F703-726D-4372-C7520052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FAA39-5E1E-3A94-5A04-C36BA19E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713BC-BD41-4B7E-AAAF-DE3BF884523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80595-19B6-01B9-FCF5-F94B0C1B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95FF2-4BCA-4EE7-96FD-F47993C09CFE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C5098A-8A29-951C-ABCF-B4C329C3A94F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4A1D01-2B46-73F0-8DC7-926AA95F7DFC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97834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27A1-B3E2-4312-9475-76586DB13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6838"/>
            <a:ext cx="11274552" cy="914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D6984-5D8F-6F35-3DC2-352D46E75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475623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CD5136-48A0-D788-8CE2-627309A00EC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522538"/>
            <a:ext cx="5178425" cy="380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7CEA6-7FDB-2A72-485B-D38A79C18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6248" y="1475622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C4D723F-4492-3B3B-CE74-0959714EEB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6375" y="2522538"/>
            <a:ext cx="5175249" cy="380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FA108E0-63AE-4B5C-404F-AD0FEC4AB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2E2EB77-3CF8-CDC9-D0D4-1AC07FC5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713BC-BD41-4B7E-AAAF-DE3BF884523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918C09E-FCA3-F1F6-7408-40D98FCE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95FF2-4BCA-4EE7-96FD-F47993C09CFE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4F547E-1AC1-2FFD-3E17-DC3F25B07823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95E25D-D4B1-2002-F8AB-8B987C1683D9}"/>
              </a:ext>
            </a:extLst>
          </p:cNvPr>
          <p:cNvCxnSpPr>
            <a:cxnSpLocks/>
          </p:cNvCxnSpPr>
          <p:nvPr/>
        </p:nvCxnSpPr>
        <p:spPr>
          <a:xfrm flipH="1">
            <a:off x="0" y="226812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35EA16-C700-BA75-F075-2E4BC3EAFBE2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17864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552C1-DD73-A90F-46E0-33A4D5580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F8C10-87B8-01D2-2FEE-DAC41B9CF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25E57E-7F73-3825-2158-80859BAD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713BC-BD41-4B7E-AAAF-DE3BF884523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634BF-792D-AC8C-B0E0-49226340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95FF2-4BCA-4EE7-96FD-F47993C09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1039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51370D-0A93-44DD-E049-EF3265B73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FF00A2-5853-30A7-62F5-7C7CB5A22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713BC-BD41-4B7E-AAAF-DE3BF884523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E97DA-A7DF-E3FF-8937-F6A36D17F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95FF2-4BCA-4EE7-96FD-F47993C09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6831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319627-2791-E32D-91B0-857B27F822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11122508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3528206"/>
            <a:ext cx="11122509" cy="275425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FE713BC-BD41-4B7E-AAAF-DE3BF884523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395FF2-4BCA-4EE7-96FD-F47993C09CFE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29100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CD7571-736E-B4CB-34E0-C8B31B5A98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6768193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528206"/>
            <a:ext cx="6768193" cy="17948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FE713BC-BD41-4B7E-AAAF-DE3BF884523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395FF2-4BCA-4EE7-96FD-F47993C09CFE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5455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57148D-D60C-3359-4AC2-15A43E22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1"/>
            <a:ext cx="10515600" cy="11572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8731C-FCAE-A05A-5A11-57005B86A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52E70-B2DF-717F-6373-70A688FAD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215E5-6146-14C5-665E-EF04630DCB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0FE713BC-BD41-4B7E-AAAF-DE3BF884523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8FA3A-8706-3F4B-41CC-B024431F6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E8395FF2-4BCA-4EE7-96FD-F47993C09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469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  <p:sldLayoutId id="2147483747" r:id="rId17"/>
    <p:sldLayoutId id="2147483748" r:id="rId18"/>
    <p:sldLayoutId id="2147483749" r:id="rId19"/>
    <p:sldLayoutId id="2147483750" r:id="rId20"/>
    <p:sldLayoutId id="2147483751" r:id="rId21"/>
    <p:sldLayoutId id="2147483752" r:id="rId22"/>
    <p:sldLayoutId id="2147483753" r:id="rId23"/>
    <p:sldLayoutId id="2147483754" r:id="rId24"/>
    <p:sldLayoutId id="2147483755" r:id="rId25"/>
    <p:sldLayoutId id="2147483756" r:id="rId26"/>
    <p:sldLayoutId id="2147483757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08">
          <p15:clr>
            <a:srgbClr val="F26B43"/>
          </p15:clr>
        </p15:guide>
        <p15:guide id="3" pos="4872">
          <p15:clr>
            <a:srgbClr val="F26B43"/>
          </p15:clr>
        </p15:guide>
        <p15:guide id="4" pos="5160">
          <p15:clr>
            <a:srgbClr val="F26B43"/>
          </p15:clr>
        </p15:guide>
        <p15:guide id="5" pos="2520">
          <p15:clr>
            <a:srgbClr val="F26B43"/>
          </p15:clr>
        </p15:guide>
        <p15:guide id="6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81FA8-2F96-0270-1972-FA3B3D88AE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Baskerville Old Face" panose="02020602080505020303" pitchFamily="18" charset="0"/>
              </a:rPr>
              <a:t>Mutual Fund Data Analytics &amp; Performance Evaluation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CA6F1C-EC43-0C9B-EF81-2500FE4A20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53343" y="3509963"/>
            <a:ext cx="7685314" cy="1074465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Quantitative Risk-Return Analysis of Large-Cap Mutual Funds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14498B-D939-1BD4-4B05-C3DD901A0E71}"/>
              </a:ext>
            </a:extLst>
          </p:cNvPr>
          <p:cNvSpPr txBox="1"/>
          <p:nvPr/>
        </p:nvSpPr>
        <p:spPr>
          <a:xfrm>
            <a:off x="5111147" y="4215096"/>
            <a:ext cx="1969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Bluestock</a:t>
            </a:r>
            <a:r>
              <a:rPr lang="en-IN" dirty="0"/>
              <a:t> Fintech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E9BAE-ED6A-6AF6-18B8-8C3796DCC063}"/>
              </a:ext>
            </a:extLst>
          </p:cNvPr>
          <p:cNvSpPr txBox="1"/>
          <p:nvPr/>
        </p:nvSpPr>
        <p:spPr>
          <a:xfrm>
            <a:off x="4820194" y="6322423"/>
            <a:ext cx="2347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Presented by:</a:t>
            </a:r>
            <a:r>
              <a:rPr lang="en-IN" dirty="0"/>
              <a:t>  Satwika</a:t>
            </a:r>
          </a:p>
        </p:txBody>
      </p:sp>
    </p:spTree>
    <p:extLst>
      <p:ext uri="{BB962C8B-B14F-4D97-AF65-F5344CB8AC3E}">
        <p14:creationId xmlns:p14="http://schemas.microsoft.com/office/powerpoint/2010/main" val="1898698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22394-2651-6536-BF62-1AD3D743F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Executive Summary &amp; Data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2DD41-DC26-2233-FEEB-6B1649B9D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b="1" dirty="0"/>
              <a:t>Problem Statement:</a:t>
            </a:r>
            <a:r>
              <a:rPr lang="en-IN" dirty="0"/>
              <a:t> Evaluating historical NAV data to compute risk-adjusted return parameters for informed mutual fund assessment.</a:t>
            </a:r>
          </a:p>
          <a:p>
            <a:pPr lvl="0"/>
            <a:r>
              <a:rPr lang="en-IN" b="1" dirty="0"/>
              <a:t>Tech Stack:</a:t>
            </a:r>
            <a:endParaRPr lang="en-IN" dirty="0"/>
          </a:p>
          <a:p>
            <a:pPr lvl="1"/>
            <a:r>
              <a:rPr lang="en-IN" b="1" dirty="0"/>
              <a:t>Language &amp; Libraries:</a:t>
            </a:r>
            <a:r>
              <a:rPr lang="en-IN" dirty="0"/>
              <a:t> Python (Pandas, SciPy, NumPy, </a:t>
            </a:r>
            <a:r>
              <a:rPr lang="en-IN" dirty="0" err="1"/>
              <a:t>SQLAlchemy</a:t>
            </a:r>
            <a:r>
              <a:rPr lang="en-IN" dirty="0"/>
              <a:t>)</a:t>
            </a:r>
          </a:p>
          <a:p>
            <a:pPr lvl="1"/>
            <a:r>
              <a:rPr lang="en-IN" b="1" dirty="0"/>
              <a:t>IDE &amp; Database:</a:t>
            </a:r>
            <a:r>
              <a:rPr lang="en-IN" dirty="0"/>
              <a:t> Visual Studio Code, SQLite</a:t>
            </a:r>
          </a:p>
          <a:p>
            <a:pPr lvl="1"/>
            <a:r>
              <a:rPr lang="en-IN" b="1" dirty="0"/>
              <a:t>Visualization:</a:t>
            </a:r>
            <a:r>
              <a:rPr lang="en-IN" dirty="0"/>
              <a:t> Power BI Desktop</a:t>
            </a:r>
          </a:p>
          <a:p>
            <a:pPr lvl="0"/>
            <a:r>
              <a:rPr lang="en-IN" b="1" dirty="0"/>
              <a:t>Data Flow Architecture:</a:t>
            </a:r>
            <a:endParaRPr lang="en-IN" dirty="0"/>
          </a:p>
          <a:p>
            <a:pPr lvl="1"/>
            <a:r>
              <a:rPr lang="en-IN" dirty="0"/>
              <a:t>data_ingestion.py &amp; live_nav_fetch.py (NAV Data Fetching)</a:t>
            </a:r>
          </a:p>
          <a:p>
            <a:pPr lvl="1"/>
            <a:r>
              <a:rPr lang="en-IN" dirty="0"/>
              <a:t>data_cleaning.py (Handling Missing Values, Schema Formatting)</a:t>
            </a:r>
          </a:p>
          <a:p>
            <a:pPr lvl="1"/>
            <a:r>
              <a:rPr lang="en-IN" dirty="0"/>
              <a:t>data_processing.py (CAGR, Risk Ratios Computation)</a:t>
            </a:r>
          </a:p>
          <a:p>
            <a:pPr lvl="1"/>
            <a:r>
              <a:rPr lang="en-IN" dirty="0"/>
              <a:t>Output Master Dataset: powerbi_dashboard_data.csv</a:t>
            </a:r>
          </a:p>
          <a:p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7397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3325B-408D-2946-32DF-F931D5963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Quantitative Metrics &amp; Analysis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CA444-C5AD-46DD-24E4-6ECFD1C9C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CAGR (3-Year):</a:t>
            </a:r>
            <a:r>
              <a:rPr lang="en-IN" dirty="0"/>
              <a:t> Evaluates compound annual growth performance across market cycles.</a:t>
            </a:r>
          </a:p>
          <a:p>
            <a:pPr lvl="0"/>
            <a:r>
              <a:rPr lang="en-IN" b="1" dirty="0"/>
              <a:t>Risk Ratios:</a:t>
            </a:r>
            <a:endParaRPr lang="en-IN" dirty="0"/>
          </a:p>
          <a:p>
            <a:pPr lvl="1"/>
            <a:r>
              <a:rPr lang="en-IN" b="1" dirty="0"/>
              <a:t>Sharpe Ratio:</a:t>
            </a:r>
            <a:r>
              <a:rPr lang="en-IN" dirty="0"/>
              <a:t> Measures risk-adjusted excess returns relative to total volatility.</a:t>
            </a:r>
          </a:p>
          <a:p>
            <a:pPr lvl="1"/>
            <a:r>
              <a:rPr lang="en-IN" b="1" dirty="0"/>
              <a:t>Sortino Ratio:</a:t>
            </a:r>
            <a:r>
              <a:rPr lang="en-IN" dirty="0"/>
              <a:t> Focuses on downside risk-adjusted returns.</a:t>
            </a:r>
          </a:p>
          <a:p>
            <a:pPr lvl="1"/>
            <a:r>
              <a:rPr lang="en-IN" b="1" dirty="0"/>
              <a:t>Max Drawdown:</a:t>
            </a:r>
            <a:r>
              <a:rPr lang="en-IN" dirty="0"/>
              <a:t> Highlights peak-to-trough downside vulnerability.</a:t>
            </a:r>
          </a:p>
          <a:p>
            <a:pPr lvl="0"/>
            <a:r>
              <a:rPr lang="en-IN" b="1" dirty="0"/>
              <a:t>Benchmark Metrics (Nifty 100):</a:t>
            </a:r>
            <a:endParaRPr lang="en-IN" dirty="0"/>
          </a:p>
          <a:p>
            <a:pPr lvl="1"/>
            <a:r>
              <a:rPr lang="en-IN" b="1" dirty="0"/>
              <a:t>Alpha:</a:t>
            </a:r>
            <a:r>
              <a:rPr lang="en-IN" dirty="0"/>
              <a:t> Measures excess returns generated over the benchmark index.</a:t>
            </a:r>
          </a:p>
          <a:p>
            <a:pPr lvl="1"/>
            <a:r>
              <a:rPr lang="en-IN" b="1" dirty="0"/>
              <a:t>Beta:</a:t>
            </a:r>
            <a:r>
              <a:rPr lang="en-IN" dirty="0"/>
              <a:t> Identifies market volatility sensitivity.</a:t>
            </a:r>
          </a:p>
        </p:txBody>
      </p:sp>
    </p:spTree>
    <p:extLst>
      <p:ext uri="{BB962C8B-B14F-4D97-AF65-F5344CB8AC3E}">
        <p14:creationId xmlns:p14="http://schemas.microsoft.com/office/powerpoint/2010/main" val="3829083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4635F-8232-4104-AD4B-C8A4094E2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Power BI Scorecard &amp; 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0C113-6AA7-E3F8-5827-02B1F1A5A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892246" cy="4849495"/>
          </a:xfrm>
        </p:spPr>
        <p:txBody>
          <a:bodyPr>
            <a:normAutofit/>
          </a:bodyPr>
          <a:lstStyle/>
          <a:p>
            <a:pPr lvl="0"/>
            <a:r>
              <a:rPr lang="en-IN" b="1" dirty="0"/>
              <a:t>Interactive Scorecard:</a:t>
            </a:r>
            <a:r>
              <a:rPr lang="en-IN" dirty="0"/>
              <a:t> Master data merged and integrated into Power BI Desktop.</a:t>
            </a:r>
          </a:p>
          <a:p>
            <a:pPr lvl="0"/>
            <a:r>
              <a:rPr lang="en-IN" b="1" dirty="0"/>
              <a:t>Key Observations:</a:t>
            </a:r>
            <a:endParaRPr lang="en-IN" dirty="0"/>
          </a:p>
          <a:p>
            <a:pPr lvl="1"/>
            <a:r>
              <a:rPr lang="en-IN" dirty="0"/>
              <a:t>Top-performing funds demonstrated higher Sharpe &amp; Sortino ratios with controlled downside risk.</a:t>
            </a:r>
          </a:p>
          <a:p>
            <a:pPr lvl="1"/>
            <a:r>
              <a:rPr lang="en-IN" dirty="0"/>
              <a:t>Alpha/Beta distribution provides clarity on fund manager efficiency vs benchmark index movements.</a:t>
            </a:r>
          </a:p>
          <a:p>
            <a:pPr lvl="0"/>
            <a:r>
              <a:rPr lang="en-IN" b="1" dirty="0"/>
              <a:t>Interactive Scorecard:</a:t>
            </a:r>
            <a:r>
              <a:rPr lang="en-IN" dirty="0"/>
              <a:t> Master data merged and integrated into Power BI Desktop.</a:t>
            </a:r>
          </a:p>
          <a:p>
            <a:pPr lvl="0"/>
            <a:r>
              <a:rPr lang="en-IN" b="1" dirty="0"/>
              <a:t>Key Observations:</a:t>
            </a:r>
            <a:endParaRPr lang="en-IN" dirty="0"/>
          </a:p>
          <a:p>
            <a:pPr lvl="1"/>
            <a:r>
              <a:rPr lang="en-IN" dirty="0"/>
              <a:t>Top-performing funds demonstrated higher Sharpe &amp; Sortino ratios with controlled downside risk.</a:t>
            </a:r>
          </a:p>
          <a:p>
            <a:pPr lvl="1"/>
            <a:r>
              <a:rPr lang="en-IN" dirty="0"/>
              <a:t>Alpha/Beta distribution provides clarity on fund manager efficiency vs benchmark index movements.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0544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13CB0-EC44-C907-9E6D-E5E64F456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&amp; Project 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592C3-8C6B-0B7B-836D-DBFEDFD8F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Deliverables Completed:</a:t>
            </a:r>
            <a:endParaRPr lang="en-IN" dirty="0"/>
          </a:p>
          <a:p>
            <a:pPr lvl="1"/>
            <a:r>
              <a:rPr lang="en-IN" dirty="0"/>
              <a:t>End-to-end Python processing scripts in VS Code.</a:t>
            </a:r>
          </a:p>
          <a:p>
            <a:pPr lvl="1"/>
            <a:r>
              <a:rPr lang="en-IN" dirty="0"/>
              <a:t>Version-controlled GitHub repository (Satwika-12/</a:t>
            </a:r>
            <a:r>
              <a:rPr lang="en-IN" dirty="0" err="1"/>
              <a:t>Bluestock_mf_cap</a:t>
            </a:r>
            <a:r>
              <a:rPr lang="en-IN" dirty="0"/>
              <a:t>).</a:t>
            </a:r>
          </a:p>
          <a:p>
            <a:pPr lvl="1"/>
            <a:r>
              <a:rPr lang="en-IN" dirty="0"/>
              <a:t>Power BI Interactive Dashboard (.</a:t>
            </a:r>
            <a:r>
              <a:rPr lang="en-IN" dirty="0" err="1"/>
              <a:t>pbix</a:t>
            </a:r>
            <a:r>
              <a:rPr lang="en-IN" dirty="0"/>
              <a:t>) &amp; Exported PDF Report (Dashboard.pdf).</a:t>
            </a:r>
          </a:p>
          <a:p>
            <a:pPr lvl="0"/>
            <a:r>
              <a:rPr lang="en-IN" b="1" dirty="0"/>
              <a:t>Future Enhancement Scope:</a:t>
            </a:r>
            <a:r>
              <a:rPr lang="en-IN" dirty="0"/>
              <a:t> Automated daily NAV pipeline execution via cloud server trigger.</a:t>
            </a:r>
          </a:p>
        </p:txBody>
      </p:sp>
    </p:spTree>
    <p:extLst>
      <p:ext uri="{BB962C8B-B14F-4D97-AF65-F5344CB8AC3E}">
        <p14:creationId xmlns:p14="http://schemas.microsoft.com/office/powerpoint/2010/main" val="3019783495"/>
      </p:ext>
    </p:extLst>
  </p:cSld>
  <p:clrMapOvr>
    <a:masterClrMapping/>
  </p:clrMapOvr>
</p:sld>
</file>

<file path=ppt/theme/theme1.xml><?xml version="1.0" encoding="utf-8"?>
<a:theme xmlns:a="http://schemas.openxmlformats.org/drawingml/2006/main" name="Shoji">
  <a:themeElements>
    <a:clrScheme name="Shoji">
      <a:dk1>
        <a:srgbClr val="131313"/>
      </a:dk1>
      <a:lt1>
        <a:sysClr val="window" lastClr="FFFFFF"/>
      </a:lt1>
      <a:dk2>
        <a:srgbClr val="1D3433"/>
      </a:dk2>
      <a:lt2>
        <a:srgbClr val="F3F2ED"/>
      </a:lt2>
      <a:accent1>
        <a:srgbClr val="7C5C3E"/>
      </a:accent1>
      <a:accent2>
        <a:srgbClr val="B8A189"/>
      </a:accent2>
      <a:accent3>
        <a:srgbClr val="A1A696"/>
      </a:accent3>
      <a:accent4>
        <a:srgbClr val="566868"/>
      </a:accent4>
      <a:accent5>
        <a:srgbClr val="786F50"/>
      </a:accent5>
      <a:accent6>
        <a:srgbClr val="A9A375"/>
      </a:accent6>
      <a:hlink>
        <a:srgbClr val="B1785F"/>
      </a:hlink>
      <a:folHlink>
        <a:srgbClr val="6C7F7F"/>
      </a:folHlink>
    </a:clrScheme>
    <a:fontScheme name="Custom 35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hoji" id="{FC7F6458-703E-4B19-BAF9-E88A9B02521B}" vid="{6FBA4037-BA28-4926-BD89-6C54034403A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717</TotalTime>
  <Words>357</Words>
  <Application>Microsoft Office PowerPoint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 Light</vt:lpstr>
      <vt:lpstr>Arial</vt:lpstr>
      <vt:lpstr>Baskerville Old Face</vt:lpstr>
      <vt:lpstr>Walbaum Display</vt:lpstr>
      <vt:lpstr>Shoji</vt:lpstr>
      <vt:lpstr>Mutual Fund Data Analytics &amp; Performance Evaluation</vt:lpstr>
      <vt:lpstr>Executive Summary &amp; Data Pipeline</vt:lpstr>
      <vt:lpstr>Quantitative Metrics &amp; Analysis Methodology</vt:lpstr>
      <vt:lpstr>Power BI Scorecard &amp; Key Findings</vt:lpstr>
      <vt:lpstr>Conclusion &amp; Project Deliverables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 Satwika</dc:creator>
  <cp:lastModifiedBy>Sri Satwika</cp:lastModifiedBy>
  <cp:revision>1</cp:revision>
  <dcterms:created xsi:type="dcterms:W3CDTF">2026-10-22T16:49:17Z</dcterms:created>
  <dcterms:modified xsi:type="dcterms:W3CDTF">2026-10-23T04:47:09Z</dcterms:modified>
</cp:coreProperties>
</file>